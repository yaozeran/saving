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student identity and sponsor-funded savings scope. Do not describe this as a bank or a production investment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an operator spreadsheet cannot independently enforce custody rules. Label the use case as proposed rather than interviewed.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Cite report references 1 and 2. Explain the limited applicability of global inclusion statistics to an existing-wallet target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browser, MetaMask, API, SQLite and vault. A password session controls portal access; wallet signatures control funds.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single implemented contract. At five percent simple interest, one ETH over a 365-day year earns 0.05 ETH. Reserve exhaustion delays interest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customer demonstration. Inspect the MetaMask network, destination and gas fee. If the transaction is pending, preserve its hash and use a clearly labelled earlier receipt.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captured logs in evidence/. Explain that assertion counts are not independent test counts. Simulated time is not real Sepolia elapsed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optimizer off/on, 200 runs, compiler 0.8.30, Shanghai target and identical operation sequence. Fees depend on gas price. See testing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public ledger privacy and email-to-wallet linkage. Passing tests do not establish audited safety or sustainable funding.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actual deployment register. Do not substitute localhost for the required public URL. Show real explorer evidence only if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agreed flexible scope and practical improvements. Retain the original-count comparison without adding unrelated functionality.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ten-minute demonstration. Answer questions from actual evidence, identify limitations and do not invent contribution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594A"/>
                </a:solidFill>
                <a:latin typeface="Arial"/>
              </a:defRPr>
            </a:pPr>
            <a:r>
              <a:t>SAVING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3E37"/>
                </a:solidFill>
                <a:latin typeface="Arial"/>
              </a:defRPr>
            </a:pPr>
            <a:r>
              <a:t>Transparent, wallet-controlled savings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Enterprise Financial DApp · Sepolia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8892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Zeran Yao · G2509029A · Sole contributor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Python API · three roles · charts · fee preview · testnet only.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2756C"/>
                </a:solidFill>
                <a:latin typeface="Arial"/>
              </a:defRPr>
            </a:pPr>
            <a:r>
              <a:t>Zeran Yao · G2509029A  /  Sepolia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2756C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594A"/>
                </a:solidFill>
                <a:latin typeface="Arial"/>
              </a:defRPr>
            </a:pPr>
            <a:r>
              <a:t>01 /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3E37"/>
                </a:solidFill>
                <a:latin typeface="Arial"/>
              </a:defRPr>
            </a:pPr>
            <a:r>
              <a:t>Can members verify the rules?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Proposed setting: a crypto-literate membership savings incentive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8892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Member needs: visible principal, executable withdrawals and explainable rewards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Sponsor funds interest; there is no external yield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3484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Problem demand has not been validated with a real organisation.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2756C"/>
                </a:solidFill>
                <a:latin typeface="Arial"/>
              </a:defRPr>
            </a:pPr>
            <a:r>
              <a:t>Zeran Yao · G2509029A  /  Sepolia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2756C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594A"/>
                </a:solidFill>
                <a:latin typeface="Arial"/>
              </a:defRPr>
            </a:pPr>
            <a:r>
              <a:t>02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3E37"/>
                </a:solidFill>
                <a:latin typeface="Arial"/>
              </a:defRPr>
            </a:pPr>
            <a:r>
              <a:t>Context supports investigation, not adoption 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World Bank Findex 2025: formal saving reached 40% of adults in developing economies in 2024 [1]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8892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This does not establish demand for a crypto savings 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BIS Papers 156 discusses DeFi asymmetry and stability risks [2].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3484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A bank or ordinary portal may be the better option for many users.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2756C"/>
                </a:solidFill>
                <a:latin typeface="Arial"/>
              </a:defRPr>
            </a:pPr>
            <a:r>
              <a:t>Zeran Yao · G2509029A  /  Sepolia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2756C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594A"/>
                </a:solidFill>
                <a:latin typeface="Arial"/>
              </a:defRPr>
            </a:pPr>
            <a:r>
              <a:t>03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3E37"/>
                </a:solidFill>
                <a:latin typeface="Arial"/>
              </a:defRPr>
            </a:pPr>
            <a:r>
              <a:t>Identity and custody are separate</a:t>
            </a:r>
          </a:p>
        </p:txBody>
      </p:sp>
      <p:pic>
        <p:nvPicPr>
          <p:cNvPr id="4" name="Picture 3" descr="01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10972800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2756C"/>
                </a:solidFill>
                <a:latin typeface="Arial"/>
              </a:defRPr>
            </a:pPr>
            <a:r>
              <a:t>Zeran Yao · G2509029A  /  Sepolia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2756C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594A"/>
                </a:solidFill>
                <a:latin typeface="Arial"/>
              </a:defRPr>
            </a:pPr>
            <a:r>
              <a:t>04 /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3E37"/>
                </a:solidFill>
                <a:latin typeface="Arial"/>
              </a:defRPr>
            </a:pPr>
            <a:r>
              <a:t>Four business transaction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Deposit → increase principal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8892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Withdraw → reduce principal and send ETH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Claim → pay accrued interest from reserve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3484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Fund → owner supplies reserve; no admin access to member principal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2756C"/>
                </a:solidFill>
                <a:latin typeface="Arial"/>
              </a:defRPr>
            </a:pPr>
            <a:r>
              <a:t>Zeran Yao · G2509029A  /  Sepolia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2756C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594A"/>
                </a:solidFill>
                <a:latin typeface="Arial"/>
              </a:defRPr>
            </a:pPr>
            <a:r>
              <a:t>05 / LIVE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3E37"/>
                </a:solidFill>
                <a:latin typeface="Arial"/>
              </a:defRPr>
            </a:pPr>
            <a:r>
              <a:t>Sign, confirm, verify, record</a:t>
            </a:r>
          </a:p>
        </p:txBody>
      </p:sp>
      <p:pic>
        <p:nvPicPr>
          <p:cNvPr id="4" name="Picture 3" descr="04-process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10972800" cy="37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2756C"/>
                </a:solidFill>
                <a:latin typeface="Arial"/>
              </a:defRPr>
            </a:pPr>
            <a:r>
              <a:t>Zeran Yao · G2509029A  /  Sepolia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2756C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594A"/>
                </a:solidFill>
                <a:latin typeface="Arial"/>
              </a:defRPr>
            </a:pPr>
            <a:r>
              <a:t>06 / TEST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3E37"/>
                </a:solidFill>
                <a:latin typeface="Arial"/>
              </a:defRPr>
            </a:pPr>
            <a:r>
              <a:t>Local checks pass; scope is bounded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Python: 19 cases, including migration, auditors, receipts and scoped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8892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EVM: three tests covering reserve, accrual, top-ups and withdrawals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Solidity compile, frontend lint and production build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3484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No live MetaMask, stakeholder pilot or independent security audit claimed.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2756C"/>
                </a:solidFill>
                <a:latin typeface="Arial"/>
              </a:defRPr>
            </a:pPr>
            <a:r>
              <a:t>Zeran Yao · G2509029A  /  Sepolia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2756C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594A"/>
                </a:solidFill>
                <a:latin typeface="Arial"/>
              </a:defRPr>
            </a:pPr>
            <a:r>
              <a:t>07 / GAS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3E37"/>
                </a:solidFill>
                <a:latin typeface="Arial"/>
              </a:defRPr>
            </a:pPr>
            <a:r>
              <a:t>Optimizer comparison, measured locally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Deployment gas: 1017375 → 545131 (46.42% reduction)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8892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Creation bytecode: 4812 → 2366 bytes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Optimized receipt gas: deposit 94735, fund 22724, claim 53951, withdraw 40698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3484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One controlled Ganache scenario; no current gas-price or latency 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2756C"/>
                </a:solidFill>
                <a:latin typeface="Arial"/>
              </a:defRPr>
            </a:pPr>
            <a:r>
              <a:t>Zeran Yao · G2509029A  /  Sepolia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2756C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594A"/>
                </a:solidFill>
                <a:latin typeface="Arial"/>
              </a:defRPr>
            </a:pPr>
            <a:r>
              <a:t>08 /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3E37"/>
                </a:solidFill>
                <a:latin typeface="Arial"/>
              </a:defRPr>
            </a:pPr>
            <a:r>
              <a:t>Principal protection is only one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Interest claims cannot consume principal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8892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Reentrancy guard and accounting before ETH transfer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Salted password hashing, expiring cookies and one-use wallet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3484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Open risks: finite reserve, lost wallet keys, RPC trust and missing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2756C"/>
                </a:solidFill>
                <a:latin typeface="Arial"/>
              </a:defRPr>
            </a:pPr>
            <a:r>
              <a:t>Zeran Yao · G2509029A  /  Sepolia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2756C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594A"/>
                </a:solidFill>
                <a:latin typeface="Arial"/>
              </a:defRPr>
            </a:pPr>
            <a:r>
              <a:t>09 /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3E37"/>
                </a:solidFill>
                <a:latin typeface="Arial"/>
              </a:defRPr>
            </a:pPr>
            <a:r>
              <a:t>Docker-ready; public evidence is pending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Next.js standalone + Python/FastAPI + SQLite persistent disk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8892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Python runtime Docker build and browser-origin/session smoke passed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No public Render URL, Sepolia address or GitHub history supplied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3484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Live deployment, restart persistence and performed demonstration still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2756C"/>
                </a:solidFill>
                <a:latin typeface="Arial"/>
              </a:defRPr>
            </a:pPr>
            <a:r>
              <a:t>Zeran Yao · G2509029A  /  Sepolia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2756C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594A"/>
                </a:solidFill>
                <a:latin typeface="Arial"/>
              </a:defRPr>
            </a:pPr>
            <a:r>
              <a:t>10 /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3E37"/>
                </a:solidFill>
                <a:latin typeface="Arial"/>
              </a:defRPr>
            </a:pPr>
            <a:r>
              <a:t>Focused scope, transparent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Implemented: Customer, Administrator and read-only Auditor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8892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Charting, paginated history, CSV, audit trail and fee preview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One vault and four meaningful workflows retained under owner-authorised flexibility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3484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Public deployment, real MetaMask acceptance and performed demo remain pending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2756C"/>
                </a:solidFill>
                <a:latin typeface="Arial"/>
              </a:defRPr>
            </a:pPr>
            <a:r>
              <a:t>Zeran Yao · G2509029A  /  Sepolia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2756C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594A"/>
                </a:solidFill>
                <a:latin typeface="Arial"/>
              </a:defRPr>
            </a:pPr>
            <a:r>
              <a:t>11 /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3E37"/>
                </a:solidFill>
                <a:latin typeface="Arial"/>
              </a:defRPr>
            </a:pPr>
            <a:r>
              <a:t>An inspectable prototype, with a clear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Zeran Yao · G2509029A · 100% sole project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8892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Artifacts: source, 14-page report, five diagrams, tests, manual and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Next: finish mandatory workflows, deploy, validate with users and record live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3484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93E37"/>
                </a:solidFill>
                <a:latin typeface="Arial"/>
              </a:defRPr>
            </a:pPr>
            <a:r>
              <a:t>• No return, adoption or enterprise-readiness claim is made.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2756C"/>
                </a:solidFill>
                <a:latin typeface="Arial"/>
              </a:defRPr>
            </a:pPr>
            <a:r>
              <a:t>Zeran Yao · G2509029A  /  Sepolia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2756C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